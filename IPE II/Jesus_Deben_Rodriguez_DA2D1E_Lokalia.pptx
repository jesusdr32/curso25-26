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Inter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>
          <a:extLst>
            <a:ext uri="{FF2B5EF4-FFF2-40B4-BE49-F238E27FC236}">
              <a16:creationId xmlns:a16="http://schemas.microsoft.com/office/drawing/2014/main" id="{790E3655-01FA-B9F6-CA40-AD57CF60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9B2ED841-6586-2C54-E66C-265C8D24D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6F309D6C-6A4A-D098-52FF-3EDB5400A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111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-10800" y="8057750"/>
            <a:ext cx="18288000" cy="2229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12857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987675" y="36977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9489875" y="0"/>
            <a:ext cx="8798100" cy="10287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914388" y="1310275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914388" y="485603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 sz="24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51750" y="1133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1478600" y="32869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6626175" y="32214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803304" y="1282425"/>
            <a:ext cx="7357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>
            <a:spLocks noGrp="1"/>
          </p:cNvSpPr>
          <p:nvPr>
            <p:ph type="pic" idx="2"/>
          </p:nvPr>
        </p:nvSpPr>
        <p:spPr>
          <a:xfrm>
            <a:off x="10239138" y="1374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1738688" y="31948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84050" y="1344675"/>
            <a:ext cx="1088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Bebas Neue"/>
              <a:buNone/>
              <a:defRPr sz="800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05575" y="28804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"/>
              <a:buChar char="•"/>
              <a:defRPr sz="32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Char char="–"/>
              <a:defRPr sz="28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Char char="•"/>
              <a:defRPr sz="24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/>
          <p:cNvPicPr preferRelativeResize="0"/>
          <p:nvPr/>
        </p:nvPicPr>
        <p:blipFill rotWithShape="1">
          <a:blip r:embed="rId3">
            <a:alphaModFix/>
          </a:blip>
          <a:srcRect l="32470" t="40696" r="11559" b="347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/>
          <p:nvPr/>
        </p:nvSpPr>
        <p:spPr>
          <a:xfrm rot="-5400000">
            <a:off x="4000501" y="-4000502"/>
            <a:ext cx="10286999" cy="18288001"/>
          </a:xfrm>
          <a:custGeom>
            <a:avLst/>
            <a:gdLst/>
            <a:ahLst/>
            <a:cxnLst/>
            <a:rect l="l" t="t" r="r" b="b"/>
            <a:pathLst>
              <a:path w="15173127" h="15800464" extrusionOk="0">
                <a:moveTo>
                  <a:pt x="0" y="0"/>
                </a:moveTo>
                <a:lnTo>
                  <a:pt x="15173126" y="0"/>
                </a:lnTo>
                <a:lnTo>
                  <a:pt x="15173126" y="15800464"/>
                </a:lnTo>
                <a:lnTo>
                  <a:pt x="0" y="1580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000"/>
            </a:blip>
            <a:stretch>
              <a:fillRect r="-413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/>
          <p:nvPr/>
        </p:nvSpPr>
        <p:spPr>
          <a:xfrm>
            <a:off x="12574494" y="2077547"/>
            <a:ext cx="4989361" cy="8209453"/>
          </a:xfrm>
          <a:custGeom>
            <a:avLst/>
            <a:gdLst/>
            <a:ahLst/>
            <a:cxnLst/>
            <a:rect l="l" t="t" r="r" b="b"/>
            <a:pathLst>
              <a:path w="4989361" h="10112233" extrusionOk="0">
                <a:moveTo>
                  <a:pt x="0" y="0"/>
                </a:moveTo>
                <a:lnTo>
                  <a:pt x="4989361" y="0"/>
                </a:lnTo>
                <a:lnTo>
                  <a:pt x="4989361" y="10112233"/>
                </a:lnTo>
                <a:lnTo>
                  <a:pt x="0" y="10112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178"/>
            </a:stretch>
          </a:blipFill>
          <a:ln>
            <a:noFill/>
          </a:ln>
        </p:spPr>
        <p:txBody>
          <a:bodyPr/>
          <a:lstStyle/>
          <a:p>
            <a:endParaRPr lang="es-ES" dirty="0"/>
          </a:p>
        </p:txBody>
      </p:sp>
      <p:grpSp>
        <p:nvGrpSpPr>
          <p:cNvPr id="50" name="Google Shape;50;p10"/>
          <p:cNvGrpSpPr/>
          <p:nvPr/>
        </p:nvGrpSpPr>
        <p:grpSpPr>
          <a:xfrm>
            <a:off x="13800680" y="5800926"/>
            <a:ext cx="419148" cy="404912"/>
            <a:chOff x="20222" y="-47625"/>
            <a:chExt cx="772356" cy="746125"/>
          </a:xfrm>
        </p:grpSpPr>
        <p:sp>
          <p:nvSpPr>
            <p:cNvPr id="51" name="Google Shape;51;p10"/>
            <p:cNvSpPr/>
            <p:nvPr/>
          </p:nvSpPr>
          <p:spPr>
            <a:xfrm>
              <a:off x="20222" y="0"/>
              <a:ext cx="772356" cy="698500"/>
            </a:xfrm>
            <a:custGeom>
              <a:avLst/>
              <a:gdLst/>
              <a:ahLst/>
              <a:cxnLst/>
              <a:rect l="l" t="t" r="r" b="b"/>
              <a:pathLst>
                <a:path w="772356" h="698500" extrusionOk="0">
                  <a:moveTo>
                    <a:pt x="739619" y="440274"/>
                  </a:moveTo>
                  <a:lnTo>
                    <a:pt x="642337" y="607476"/>
                  </a:lnTo>
                  <a:cubicBezTo>
                    <a:pt x="609549" y="663831"/>
                    <a:pt x="549268" y="698500"/>
                    <a:pt x="484069" y="698500"/>
                  </a:cubicBezTo>
                  <a:lnTo>
                    <a:pt x="288287" y="698500"/>
                  </a:lnTo>
                  <a:cubicBezTo>
                    <a:pt x="223088" y="698500"/>
                    <a:pt x="162807" y="663831"/>
                    <a:pt x="130019" y="607476"/>
                  </a:cubicBezTo>
                  <a:lnTo>
                    <a:pt x="32737" y="440274"/>
                  </a:lnTo>
                  <a:cubicBezTo>
                    <a:pt x="0" y="384007"/>
                    <a:pt x="0" y="314493"/>
                    <a:pt x="32737" y="258226"/>
                  </a:cubicBezTo>
                  <a:lnTo>
                    <a:pt x="130019" y="91024"/>
                  </a:lnTo>
                  <a:cubicBezTo>
                    <a:pt x="162807" y="34669"/>
                    <a:pt x="223088" y="0"/>
                    <a:pt x="288287" y="0"/>
                  </a:cubicBezTo>
                  <a:lnTo>
                    <a:pt x="484069" y="0"/>
                  </a:lnTo>
                  <a:cubicBezTo>
                    <a:pt x="549268" y="0"/>
                    <a:pt x="609549" y="34669"/>
                    <a:pt x="642337" y="91024"/>
                  </a:cubicBezTo>
                  <a:lnTo>
                    <a:pt x="739619" y="258226"/>
                  </a:lnTo>
                  <a:cubicBezTo>
                    <a:pt x="772356" y="314493"/>
                    <a:pt x="772356" y="384007"/>
                    <a:pt x="739619" y="440274"/>
                  </a:cubicBezTo>
                  <a:close/>
                </a:path>
              </a:pathLst>
            </a:custGeom>
            <a:solidFill>
              <a:srgbClr val="F5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0"/>
            <p:cNvSpPr txBox="1"/>
            <p:nvPr/>
          </p:nvSpPr>
          <p:spPr>
            <a:xfrm>
              <a:off x="114300" y="-47625"/>
              <a:ext cx="5842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10"/>
          <p:cNvSpPr txBox="1"/>
          <p:nvPr/>
        </p:nvSpPr>
        <p:spPr>
          <a:xfrm>
            <a:off x="2159905" y="3768475"/>
            <a:ext cx="7589974" cy="27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338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LOKALIA</a:t>
            </a:r>
            <a:r>
              <a:rPr lang="en-US" sz="22338" b="1" dirty="0">
                <a:solidFill>
                  <a:srgbClr val="00FFA3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  <a:endParaRPr dirty="0"/>
          </a:p>
        </p:txBody>
      </p:sp>
      <p:sp>
        <p:nvSpPr>
          <p:cNvPr id="57" name="Google Shape;57;p10"/>
          <p:cNvSpPr txBox="1"/>
          <p:nvPr/>
        </p:nvSpPr>
        <p:spPr>
          <a:xfrm>
            <a:off x="885569" y="8622657"/>
            <a:ext cx="1013864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5F5F7"/>
                </a:solidFill>
                <a:latin typeface="Inter"/>
                <a:ea typeface="Inter"/>
                <a:cs typeface="Inter"/>
                <a:sym typeface="Inter"/>
              </a:rPr>
              <a:t>Jesús Debén Rodríguez 					DA2D1E</a:t>
            </a:r>
            <a:endParaRPr dirty="0"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52213E4-2769-750D-C6F9-1852AE77A4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74" y="815724"/>
            <a:ext cx="1430431" cy="1565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F02FF7C3-F802-F752-26F4-BEAFC90A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459" y="2934482"/>
            <a:ext cx="6370287" cy="383480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911937-7F31-C8D9-16CD-AE19F221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7766"/>
            <a:ext cx="12857400" cy="1470000"/>
          </a:xfrm>
        </p:spPr>
        <p:txBody>
          <a:bodyPr/>
          <a:lstStyle/>
          <a:p>
            <a:r>
              <a:rPr lang="es-ES" dirty="0"/>
              <a:t>El reto 1+1: origen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A169F82A-2D41-C26E-6DF2-8DEBC210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44" y="189943"/>
            <a:ext cx="1430431" cy="1565646"/>
          </a:xfrm>
          <a:prstGeom prst="rect">
            <a:avLst/>
          </a:prstGeom>
        </p:spPr>
      </p:pic>
      <p:pic>
        <p:nvPicPr>
          <p:cNvPr id="6" name="Imagen 5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7F0EC9FD-04A1-6DFB-84CA-233F6DA44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263" y="2762250"/>
            <a:ext cx="4762500" cy="4762500"/>
          </a:xfrm>
          <a:prstGeom prst="rect">
            <a:avLst/>
          </a:prstGeom>
        </p:spPr>
      </p:pic>
      <p:pic>
        <p:nvPicPr>
          <p:cNvPr id="10" name="Gráfico 9" descr="Agregar con relleno sólido">
            <a:extLst>
              <a:ext uri="{FF2B5EF4-FFF2-40B4-BE49-F238E27FC236}">
                <a16:creationId xmlns:a16="http://schemas.microsoft.com/office/drawing/2014/main" id="{D284A777-C61D-9C9E-1CAC-31E0E4F9D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0511" y="4130011"/>
            <a:ext cx="2026977" cy="2026977"/>
          </a:xfrm>
          <a:prstGeom prst="rect">
            <a:avLst/>
          </a:prstGeom>
        </p:spPr>
      </p:pic>
      <p:pic>
        <p:nvPicPr>
          <p:cNvPr id="12" name="Imagen 11" descr="Un grupo de personas caminando en la calle&#10;&#10;El contenido generado por IA puede ser incorrecto.">
            <a:extLst>
              <a:ext uri="{FF2B5EF4-FFF2-40B4-BE49-F238E27FC236}">
                <a16:creationId xmlns:a16="http://schemas.microsoft.com/office/drawing/2014/main" id="{F74C1D71-EABD-4B9A-4C4B-B3EB42AE94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3019" y="3211928"/>
            <a:ext cx="6213141" cy="34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4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23B63-86FD-1CA8-684D-334BFC8E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559" y="1304771"/>
            <a:ext cx="7772400" cy="843013"/>
          </a:xfrm>
        </p:spPr>
        <p:txBody>
          <a:bodyPr>
            <a:noAutofit/>
          </a:bodyPr>
          <a:lstStyle/>
          <a:p>
            <a:r>
              <a:rPr lang="es-ES" dirty="0"/>
              <a:t>El problema del caos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4C716F-9645-7C19-DE95-47402796C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9229" y="5143500"/>
            <a:ext cx="7383451" cy="1500300"/>
          </a:xfrm>
        </p:spPr>
        <p:txBody>
          <a:bodyPr>
            <a:noAutofit/>
          </a:bodyPr>
          <a:lstStyle/>
          <a:p>
            <a:r>
              <a:rPr lang="es-ES" sz="3200" dirty="0"/>
              <a:t>El rastro es un laberinto:</a:t>
            </a:r>
          </a:p>
          <a:p>
            <a:pPr marL="685800" indent="-457200">
              <a:buAutoNum type="arabicPeriod"/>
            </a:pPr>
            <a:r>
              <a:rPr lang="es-ES" sz="3200" dirty="0"/>
              <a:t>Dificultad para encontrar puestos</a:t>
            </a:r>
          </a:p>
          <a:p>
            <a:pPr marL="685800" indent="-457200">
              <a:buAutoNum type="arabicPeriod"/>
            </a:pPr>
            <a:r>
              <a:rPr lang="es-ES" sz="3200" dirty="0"/>
              <a:t>Falta de información diaria</a:t>
            </a:r>
          </a:p>
          <a:p>
            <a:pPr marL="685800" indent="-457200">
              <a:buAutoNum type="arabicPeriod"/>
            </a:pPr>
            <a:r>
              <a:rPr lang="es-ES" sz="3200" dirty="0"/>
              <a:t>Experiencia desorganizada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53CA2100-F194-31C5-CB26-E6969F198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8" y="582138"/>
            <a:ext cx="1430431" cy="1565646"/>
          </a:xfrm>
          <a:prstGeom prst="rect">
            <a:avLst/>
          </a:prstGeom>
        </p:spPr>
      </p:pic>
      <p:pic>
        <p:nvPicPr>
          <p:cNvPr id="6" name="Imagen 5" descr="Una multitud de gente&#10;&#10;El contenido generado por IA puede ser incorrecto.">
            <a:extLst>
              <a:ext uri="{FF2B5EF4-FFF2-40B4-BE49-F238E27FC236}">
                <a16:creationId xmlns:a16="http://schemas.microsoft.com/office/drawing/2014/main" id="{CB9E1428-CC3F-024F-4CDC-50EB308E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581" y="3238500"/>
            <a:ext cx="768312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3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38A9B-46F4-4390-56D4-E7573DA2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03" y="998045"/>
            <a:ext cx="7772400" cy="1125686"/>
          </a:xfrm>
        </p:spPr>
        <p:txBody>
          <a:bodyPr/>
          <a:lstStyle/>
          <a:p>
            <a:r>
              <a:rPr lang="es-ES" dirty="0"/>
              <a:t>La solución: </a:t>
            </a:r>
            <a:r>
              <a:rPr lang="es-ES" sz="6600" b="1" dirty="0"/>
              <a:t>lokalia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540386-3386-BC70-EAC7-420BA0E68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1809" y="3493450"/>
            <a:ext cx="7772400" cy="3300099"/>
          </a:xfrm>
        </p:spPr>
        <p:txBody>
          <a:bodyPr>
            <a:normAutofit fontScale="25000" lnSpcReduction="20000"/>
          </a:bodyPr>
          <a:lstStyle/>
          <a:p>
            <a:r>
              <a:rPr lang="es-ES" sz="12800" dirty="0"/>
              <a:t>La App que transforma el caos en orden.</a:t>
            </a:r>
          </a:p>
          <a:p>
            <a:endParaRPr lang="es-ES" sz="12800" dirty="0"/>
          </a:p>
          <a:p>
            <a:r>
              <a:rPr lang="es-ES" sz="12800" dirty="0"/>
              <a:t>Funcionalidades principales:</a:t>
            </a:r>
          </a:p>
          <a:p>
            <a:pPr marL="685800" indent="-457200">
              <a:buAutoNum type="arabicPeriod"/>
            </a:pPr>
            <a:r>
              <a:rPr lang="es-ES" sz="12800" dirty="0"/>
              <a:t>Mapa en Tiempo Real y GPS</a:t>
            </a:r>
          </a:p>
          <a:p>
            <a:pPr marL="685800" indent="-457200">
              <a:buAutoNum type="arabicPeriod"/>
            </a:pPr>
            <a:r>
              <a:rPr lang="es-ES" sz="12800" dirty="0"/>
              <a:t>Inventario Digital (por búsqueda)</a:t>
            </a:r>
          </a:p>
          <a:p>
            <a:pPr marL="685800" indent="-457200">
              <a:buAutoNum type="arabicPeriod"/>
            </a:pPr>
            <a:r>
              <a:rPr lang="es-ES" sz="12800" dirty="0"/>
              <a:t>Actualización Diaria de puestos</a:t>
            </a:r>
          </a:p>
          <a:p>
            <a:endParaRPr lang="es-ES" dirty="0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D707677D-0BA2-D4C7-51BA-44E18B17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" y="558085"/>
            <a:ext cx="1430431" cy="1565646"/>
          </a:xfrm>
          <a:prstGeom prst="rect">
            <a:avLst/>
          </a:prstGeom>
        </p:spPr>
      </p:pic>
      <p:pic>
        <p:nvPicPr>
          <p:cNvPr id="8" name="Imagen 7" descr="Dibujo de video juego&#10;&#10;El contenido generado por IA puede ser incorrecto.">
            <a:extLst>
              <a:ext uri="{FF2B5EF4-FFF2-40B4-BE49-F238E27FC236}">
                <a16:creationId xmlns:a16="http://schemas.microsoft.com/office/drawing/2014/main" id="{BFBB253E-58A1-374E-D75D-A7463D93F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057" y="3131317"/>
            <a:ext cx="5634109" cy="402436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60BDF3C-C420-0DF6-FBDD-83CB79CB0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8519" y="5726331"/>
            <a:ext cx="3811491" cy="213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6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FC2292-C2E6-74BC-DA04-DD89225B3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03" y="1318603"/>
            <a:ext cx="7772400" cy="805128"/>
          </a:xfrm>
        </p:spPr>
        <p:txBody>
          <a:bodyPr>
            <a:noAutofit/>
          </a:bodyPr>
          <a:lstStyle/>
          <a:p>
            <a:r>
              <a:rPr lang="es-ES" dirty="0"/>
              <a:t>¿A quien servimos?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E5E19F-24FA-88EA-37D1-72C765E3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87" y="3753134"/>
            <a:ext cx="7772400" cy="4991562"/>
          </a:xfrm>
        </p:spPr>
        <p:txBody>
          <a:bodyPr>
            <a:noAutofit/>
          </a:bodyPr>
          <a:lstStyle/>
          <a:p>
            <a:pPr marL="685800" indent="-457200">
              <a:buAutoNum type="arabicPeriod"/>
            </a:pPr>
            <a:r>
              <a:rPr lang="es-ES" sz="3200" dirty="0"/>
              <a:t>Turistas: descubren El Rastro sin perderse, encuentran recuerdos de Madrid de forma eficiente</a:t>
            </a:r>
          </a:p>
          <a:p>
            <a:pPr marL="685800" indent="-457200">
              <a:buAutoNum type="arabicPeriod"/>
            </a:pPr>
            <a:r>
              <a:rPr lang="es-ES" sz="3200" dirty="0"/>
              <a:t>Coleccionistas/Expertos: buscan artículos específicos usando filtros avanzados</a:t>
            </a:r>
          </a:p>
          <a:p>
            <a:pPr marL="685800" indent="-457200">
              <a:buAutoNum type="arabicPeriod"/>
            </a:pPr>
            <a:r>
              <a:rPr lang="es-ES" sz="3200" dirty="0"/>
              <a:t>Vendedores del Rastro: ganan visibilidad digital y un canal de comunicación con sus clientes</a:t>
            </a:r>
          </a:p>
          <a:p>
            <a:pPr marL="685800" indent="-457200">
              <a:buAutoNum type="arabicPeriod"/>
            </a:pPr>
            <a:r>
              <a:rPr lang="es-ES" sz="3200" dirty="0"/>
              <a:t>Visitantes locales: planifican su ruta y encuentran rápidamente zonas de ocio y restauración cercanas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323B34F7-0B8D-3AC7-C9D5-1579483B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2" y="558085"/>
            <a:ext cx="1430431" cy="1565646"/>
          </a:xfrm>
          <a:prstGeom prst="rect">
            <a:avLst/>
          </a:prstGeom>
        </p:spPr>
      </p:pic>
      <p:pic>
        <p:nvPicPr>
          <p:cNvPr id="10" name="Imagen 9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22B38A85-0C1A-62A1-3C1F-1522D65D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175" y="1468288"/>
            <a:ext cx="3080167" cy="3080167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2D72EAEC-3907-0527-9205-72CF910E0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1730" y="1340908"/>
            <a:ext cx="3337881" cy="3337881"/>
          </a:xfrm>
          <a:prstGeom prst="rect">
            <a:avLst/>
          </a:prstGeom>
        </p:spPr>
      </p:pic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8461FF4A-555B-865B-4F6F-C645C8E25A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641"/>
          <a:stretch>
            <a:fillRect/>
          </a:stretch>
        </p:blipFill>
        <p:spPr>
          <a:xfrm>
            <a:off x="9869175" y="5494149"/>
            <a:ext cx="3080167" cy="2869352"/>
          </a:xfrm>
          <a:prstGeom prst="rect">
            <a:avLst/>
          </a:prstGeom>
        </p:spPr>
      </p:pic>
      <p:pic>
        <p:nvPicPr>
          <p:cNvPr id="16" name="Imagen 15" descr="Forma&#10;&#10;El contenido generado por IA puede ser incorrecto.">
            <a:extLst>
              <a:ext uri="{FF2B5EF4-FFF2-40B4-BE49-F238E27FC236}">
                <a16:creationId xmlns:a16="http://schemas.microsoft.com/office/drawing/2014/main" id="{0702DEE3-90F2-EB13-FA77-E336EF764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31730" y="5494149"/>
            <a:ext cx="3080167" cy="308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5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68793-B736-3E04-7B29-4D804899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6956"/>
            <a:ext cx="12857400" cy="1470000"/>
          </a:xfrm>
        </p:spPr>
        <p:txBody>
          <a:bodyPr/>
          <a:lstStyle/>
          <a:p>
            <a:r>
              <a:rPr lang="es-ES" dirty="0"/>
              <a:t>Técnica scamper: 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14F29299-B034-9946-A2F8-4D65AB339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44" y="469133"/>
            <a:ext cx="1430431" cy="1565646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D43A386C-F4AE-E5DF-C166-E9F0150FF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287" y="2465166"/>
            <a:ext cx="7151426" cy="53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7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D46DB-0111-EAA7-375E-BE498B99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Sustituir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319AD5-143B-99A9-D0FB-4B119E66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035" y="4127833"/>
            <a:ext cx="7772400" cy="2031334"/>
          </a:xfrm>
        </p:spPr>
        <p:txBody>
          <a:bodyPr>
            <a:noAutofit/>
          </a:bodyPr>
          <a:lstStyle/>
          <a:p>
            <a:r>
              <a:rPr lang="es-ES" sz="3200" dirty="0"/>
              <a:t>Sustituir la App por una versión web ‘Lite’ para consultar desde cualquier dispositivo sin necesidad de geolocalización o descarga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576B3AB5-FAA8-C910-C99C-6E5CC7A2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BC67A116-CE54-F9FD-36CB-35B00495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9596" y="3236118"/>
            <a:ext cx="3814763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0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F025-B0C8-1F3F-D91F-198690BC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CAB74-47B6-E380-AE19-97E9EE817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combinar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B35A31-7F0B-7136-BB5F-C2672FAB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8035" y="3879067"/>
            <a:ext cx="7772400" cy="2528863"/>
          </a:xfrm>
        </p:spPr>
        <p:txBody>
          <a:bodyPr>
            <a:noAutofit/>
          </a:bodyPr>
          <a:lstStyle/>
          <a:p>
            <a:r>
              <a:rPr lang="es-ES" sz="3200" dirty="0"/>
              <a:t>Combinar la información de los puestos temporales del Rastro con los locales comerciales permanentes cercanos (locales de moda, tiendas de antigüedad, …)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83D68F8-6314-525D-3612-231EB937D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7" name="Imagen 6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D515C56-78A1-5E6D-CA60-067012BA5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973" y="3062216"/>
            <a:ext cx="4162567" cy="416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47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36FF-44A0-6366-26C3-8B227217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37FC6-3968-ADA5-34A4-4FC7AA34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adaptar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5635A2-C1EB-D8D8-1B3A-26169CCF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1683" y="4308972"/>
            <a:ext cx="7772400" cy="1669054"/>
          </a:xfrm>
        </p:spPr>
        <p:txBody>
          <a:bodyPr>
            <a:noAutofit/>
          </a:bodyPr>
          <a:lstStyle/>
          <a:p>
            <a:r>
              <a:rPr lang="es-ES" sz="3200" dirty="0"/>
              <a:t>Adaptar la funcionalidad de voz para crear rutas temáticas guiadas por audio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E741D3A7-F9E0-ED6A-557A-8A5613D17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7" name="Imagen 6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3E2A7730-4ABC-7D1D-13F0-460C0D414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301" y="2577721"/>
            <a:ext cx="5131558" cy="51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4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AE7B-3399-4322-F056-E1EE7C19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10104-6751-E9F5-378B-DF33EE78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Poner en otro uso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BD3389-3816-307B-1BBF-7B0DE259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092" y="4127832"/>
            <a:ext cx="7772400" cy="2031334"/>
          </a:xfrm>
        </p:spPr>
        <p:txBody>
          <a:bodyPr>
            <a:noAutofit/>
          </a:bodyPr>
          <a:lstStyle/>
          <a:p>
            <a:r>
              <a:rPr lang="es-ES" sz="3200" dirty="0"/>
              <a:t>Usar la tecnología de mapeo y gestión para otros mercados temporales, ferias y eventos dentro y fuera de Madrid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5912FE17-6CB1-AFE3-059D-2528F55D2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7" name="Imagen 6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EFA3400B-580E-4872-332B-33EBA8080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061" y="3236118"/>
            <a:ext cx="3814763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D73A-BFF5-2939-E8D4-4C797705F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8B6A0-0E2F-B5E6-7652-9F459BE4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eliminar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95923F-2333-2DBE-FB60-FC239966D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740" y="3885891"/>
            <a:ext cx="7772400" cy="2515215"/>
          </a:xfrm>
        </p:spPr>
        <p:txBody>
          <a:bodyPr>
            <a:noAutofit/>
          </a:bodyPr>
          <a:lstStyle/>
          <a:p>
            <a:r>
              <a:rPr lang="es-ES" sz="3200" dirty="0"/>
              <a:t>Eliminar la complejidad del mapa y GPS en una vista alternativa, ofreciendo solo un simple “Modo Catálogo/Menú” de productos y listados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D5C540E-C80D-2324-9991-B70C60CD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7" name="Imagen 6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DC14A800-5533-CD72-E148-20E03DEE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5004" y="3236118"/>
            <a:ext cx="3814763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06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4E4D-BF96-91B9-E6B5-F37FF7D3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42EBD-E857-5098-0251-97D9D5265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732" y="868788"/>
            <a:ext cx="7772400" cy="944239"/>
          </a:xfrm>
        </p:spPr>
        <p:txBody>
          <a:bodyPr/>
          <a:lstStyle/>
          <a:p>
            <a:r>
              <a:rPr lang="es-ES" dirty="0"/>
              <a:t>reorganizar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013FAA-EB4C-CB9F-D365-FF5DE050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444" y="4127832"/>
            <a:ext cx="7772400" cy="2031334"/>
          </a:xfrm>
        </p:spPr>
        <p:txBody>
          <a:bodyPr>
            <a:noAutofit/>
          </a:bodyPr>
          <a:lstStyle/>
          <a:p>
            <a:r>
              <a:rPr lang="es-ES" sz="3200" dirty="0"/>
              <a:t>Reorganizar el mapa para priorizar y destacar zonas de restauración, ocio y tapas cercanas, haciendo la experiencia más social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E467B8A0-2E53-CE33-0C7A-3AB6E7C0C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247381"/>
            <a:ext cx="1430431" cy="1565646"/>
          </a:xfrm>
          <a:prstGeom prst="rect">
            <a:avLst/>
          </a:prstGeom>
        </p:spPr>
      </p:pic>
      <p:pic>
        <p:nvPicPr>
          <p:cNvPr id="7" name="Imagen 6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65245504-6D8A-C25F-8CE0-20D0928B2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056" y="3236118"/>
            <a:ext cx="3814763" cy="381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>
          <a:extLst>
            <a:ext uri="{FF2B5EF4-FFF2-40B4-BE49-F238E27FC236}">
              <a16:creationId xmlns:a16="http://schemas.microsoft.com/office/drawing/2014/main" id="{B9430082-41A7-03D0-012F-BD574214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>
            <a:extLst>
              <a:ext uri="{FF2B5EF4-FFF2-40B4-BE49-F238E27FC236}">
                <a16:creationId xmlns:a16="http://schemas.microsoft.com/office/drawing/2014/main" id="{7F3146E0-D215-D395-FCE3-D7DC2114B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2470" t="40696" r="11559" b="3478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>
            <a:extLst>
              <a:ext uri="{FF2B5EF4-FFF2-40B4-BE49-F238E27FC236}">
                <a16:creationId xmlns:a16="http://schemas.microsoft.com/office/drawing/2014/main" id="{E719AA4D-4F31-4C6E-16DE-3380EBA048DD}"/>
              </a:ext>
            </a:extLst>
          </p:cNvPr>
          <p:cNvSpPr/>
          <p:nvPr/>
        </p:nvSpPr>
        <p:spPr>
          <a:xfrm rot="-5400000">
            <a:off x="4000501" y="-4000502"/>
            <a:ext cx="10286999" cy="18288001"/>
          </a:xfrm>
          <a:custGeom>
            <a:avLst/>
            <a:gdLst/>
            <a:ahLst/>
            <a:cxnLst/>
            <a:rect l="l" t="t" r="r" b="b"/>
            <a:pathLst>
              <a:path w="15173127" h="15800464" extrusionOk="0">
                <a:moveTo>
                  <a:pt x="0" y="0"/>
                </a:moveTo>
                <a:lnTo>
                  <a:pt x="15173126" y="0"/>
                </a:lnTo>
                <a:lnTo>
                  <a:pt x="15173126" y="15800464"/>
                </a:lnTo>
                <a:lnTo>
                  <a:pt x="0" y="15800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000"/>
            </a:blip>
            <a:stretch>
              <a:fillRect r="-413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0">
            <a:extLst>
              <a:ext uri="{FF2B5EF4-FFF2-40B4-BE49-F238E27FC236}">
                <a16:creationId xmlns:a16="http://schemas.microsoft.com/office/drawing/2014/main" id="{13D1C634-4E61-0EE3-C5CC-6E8D05F9CD4A}"/>
              </a:ext>
            </a:extLst>
          </p:cNvPr>
          <p:cNvSpPr txBox="1"/>
          <p:nvPr/>
        </p:nvSpPr>
        <p:spPr>
          <a:xfrm>
            <a:off x="2813218" y="3768474"/>
            <a:ext cx="12661564" cy="27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338" b="1" dirty="0">
                <a:solidFill>
                  <a:srgbClr val="F5F5F7"/>
                </a:solidFill>
                <a:latin typeface="Bebas Neue"/>
                <a:ea typeface="Bebas Neue"/>
                <a:cs typeface="Bebas Neue"/>
                <a:sym typeface="Bebas Neue"/>
              </a:rPr>
              <a:t>¿preguntas?</a:t>
            </a:r>
            <a:r>
              <a:rPr lang="en-US" sz="22338" b="1" dirty="0">
                <a:solidFill>
                  <a:srgbClr val="00FFA3"/>
                </a:solidFill>
                <a:latin typeface="Bebas Neue"/>
                <a:ea typeface="Bebas Neue"/>
                <a:cs typeface="Bebas Neue"/>
                <a:sym typeface="Bebas Neue"/>
              </a:rPr>
              <a:t>.</a:t>
            </a:r>
            <a:endParaRPr dirty="0"/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3C088736-BAE5-5661-6079-A1B958192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74" y="815724"/>
            <a:ext cx="1430431" cy="15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58241"/>
      </p:ext>
    </p:extLst>
  </p:cSld>
  <p:clrMapOvr>
    <a:masterClrMapping/>
  </p:clrMapOvr>
</p:sld>
</file>

<file path=ppt/theme/theme1.xml><?xml version="1.0" encoding="utf-8"?>
<a:theme xmlns:a="http://schemas.openxmlformats.org/drawingml/2006/main" name="Blue and Green Modern Tech Branding Kit Presentation">
  <a:themeElements>
    <a:clrScheme name="Office">
      <a:dk1>
        <a:srgbClr val="0D2243"/>
      </a:dk1>
      <a:lt1>
        <a:srgbClr val="FFFFFF"/>
      </a:lt1>
      <a:dk2>
        <a:srgbClr val="888888"/>
      </a:dk2>
      <a:lt2>
        <a:srgbClr val="00FFA3"/>
      </a:lt2>
      <a:accent1>
        <a:srgbClr val="0D2243"/>
      </a:accent1>
      <a:accent2>
        <a:srgbClr val="F5F5F7"/>
      </a:accent2>
      <a:accent3>
        <a:srgbClr val="00FFA3"/>
      </a:accent3>
      <a:accent4>
        <a:srgbClr val="0D2243"/>
      </a:accent4>
      <a:accent5>
        <a:srgbClr val="98A1AF"/>
      </a:accent5>
      <a:accent6>
        <a:srgbClr val="F5F5F7"/>
      </a:accent6>
      <a:hlink>
        <a:srgbClr val="0D2243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269</Words>
  <Application>Microsoft Office PowerPoint</Application>
  <PresentationFormat>Personalizado</PresentationFormat>
  <Paragraphs>34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Inter</vt:lpstr>
      <vt:lpstr>Calibri</vt:lpstr>
      <vt:lpstr>Arial</vt:lpstr>
      <vt:lpstr>Bebas Neue</vt:lpstr>
      <vt:lpstr>Blue and Green Modern Tech Branding Kit Presentation</vt:lpstr>
      <vt:lpstr>Presentación de PowerPoint</vt:lpstr>
      <vt:lpstr>El reto 1+1: origen</vt:lpstr>
      <vt:lpstr>El problema del caos</vt:lpstr>
      <vt:lpstr>La solución: lokalia</vt:lpstr>
      <vt:lpstr>¿A quien servimos?</vt:lpstr>
      <vt:lpstr>Técnica scamper: </vt:lpstr>
      <vt:lpstr>Sustituir</vt:lpstr>
      <vt:lpstr>combinar</vt:lpstr>
      <vt:lpstr>adaptar</vt:lpstr>
      <vt:lpstr>Poner en otro uso</vt:lpstr>
      <vt:lpstr>eliminar</vt:lpstr>
      <vt:lpstr>reorganizar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Vespertino</dc:creator>
  <cp:lastModifiedBy>officeClara_125</cp:lastModifiedBy>
  <cp:revision>2</cp:revision>
  <dcterms:modified xsi:type="dcterms:W3CDTF">2025-12-02T21:11:32Z</dcterms:modified>
</cp:coreProperties>
</file>